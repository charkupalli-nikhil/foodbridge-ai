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256" r:id="rId3"/>
    <p:sldId id="260" r:id="rId4"/>
    <p:sldId id="261" r:id="rId5"/>
    <p:sldId id="265" r:id="rId6"/>
    <p:sldId id="263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Charkupalli" userId="339a0925fb657c24" providerId="LiveId" clId="{3DFEDEEC-196B-4188-BB58-09199A00E351}"/>
    <pc:docChg chg="undo custSel addSld delSld modSld">
      <pc:chgData name="Nikhil Charkupalli" userId="339a0925fb657c24" providerId="LiveId" clId="{3DFEDEEC-196B-4188-BB58-09199A00E351}" dt="2026-09-11T18:10:09.865" v="37" actId="1076"/>
      <pc:docMkLst>
        <pc:docMk/>
      </pc:docMkLst>
      <pc:sldChg chg="delSp modSp add mod setBg">
        <pc:chgData name="Nikhil Charkupalli" userId="339a0925fb657c24" providerId="LiveId" clId="{3DFEDEEC-196B-4188-BB58-09199A00E351}" dt="2026-09-11T18:08:41.594" v="28" actId="20577"/>
        <pc:sldMkLst>
          <pc:docMk/>
          <pc:sldMk cId="0" sldId="256"/>
        </pc:sldMkLst>
        <pc:spChg chg="mod">
          <ac:chgData name="Nikhil Charkupalli" userId="339a0925fb657c24" providerId="LiveId" clId="{3DFEDEEC-196B-4188-BB58-09199A00E351}" dt="2026-09-11T16:30:53.632" v="15" actId="1076"/>
          <ac:spMkLst>
            <pc:docMk/>
            <pc:sldMk cId="0" sldId="256"/>
            <ac:spMk id="35" creationId="{00000000-0000-0000-0000-000000000000}"/>
          </ac:spMkLst>
        </pc:spChg>
        <pc:spChg chg="del mod">
          <ac:chgData name="Nikhil Charkupalli" userId="339a0925fb657c24" providerId="LiveId" clId="{3DFEDEEC-196B-4188-BB58-09199A00E351}" dt="2026-09-11T18:07:38.923" v="19" actId="478"/>
          <ac:spMkLst>
            <pc:docMk/>
            <pc:sldMk cId="0" sldId="256"/>
            <ac:spMk id="42" creationId="{00000000-0000-0000-0000-000000000000}"/>
          </ac:spMkLst>
        </pc:spChg>
        <pc:spChg chg="mod">
          <ac:chgData name="Nikhil Charkupalli" userId="339a0925fb657c24" providerId="LiveId" clId="{3DFEDEEC-196B-4188-BB58-09199A00E351}" dt="2026-09-11T18:08:41.594" v="28" actId="20577"/>
          <ac:spMkLst>
            <pc:docMk/>
            <pc:sldMk cId="0" sldId="256"/>
            <ac:spMk id="44" creationId="{00000000-0000-0000-0000-000000000000}"/>
          </ac:spMkLst>
        </pc:spChg>
      </pc:sldChg>
      <pc:sldChg chg="addSp add del setBg">
        <pc:chgData name="Nikhil Charkupalli" userId="339a0925fb657c24" providerId="LiveId" clId="{3DFEDEEC-196B-4188-BB58-09199A00E351}" dt="2026-09-11T16:29:33.991" v="13" actId="2696"/>
        <pc:sldMkLst>
          <pc:docMk/>
          <pc:sldMk cId="0" sldId="257"/>
        </pc:sldMkLst>
        <pc:spChg chg="add">
          <ac:chgData name="Nikhil Charkupalli" userId="339a0925fb657c24" providerId="LiveId" clId="{3DFEDEEC-196B-4188-BB58-09199A00E351}" dt="2026-09-11T16:27:50.461" v="8"/>
          <ac:spMkLst>
            <pc:docMk/>
            <pc:sldMk cId="0" sldId="257"/>
            <ac:spMk id="4" creationId="{BD1EE89C-D050-38AE-0097-1388945E77CD}"/>
          </ac:spMkLst>
        </pc:spChg>
        <pc:spChg chg="add">
          <ac:chgData name="Nikhil Charkupalli" userId="339a0925fb657c24" providerId="LiveId" clId="{3DFEDEEC-196B-4188-BB58-09199A00E351}" dt="2026-09-11T16:27:59.852" v="9"/>
          <ac:spMkLst>
            <pc:docMk/>
            <pc:sldMk cId="0" sldId="257"/>
            <ac:spMk id="5" creationId="{094EFBEC-6EAA-9911-6AB8-EF096BDC9A54}"/>
          </ac:spMkLst>
        </pc:spChg>
      </pc:sldChg>
      <pc:sldChg chg="add del">
        <pc:chgData name="Nikhil Charkupalli" userId="339a0925fb657c24" providerId="LiveId" clId="{3DFEDEEC-196B-4188-BB58-09199A00E351}" dt="2026-09-11T16:28:28.656" v="11" actId="2696"/>
        <pc:sldMkLst>
          <pc:docMk/>
          <pc:sldMk cId="0" sldId="259"/>
        </pc:sldMkLst>
      </pc:sldChg>
      <pc:sldChg chg="del">
        <pc:chgData name="Nikhil Charkupalli" userId="339a0925fb657c24" providerId="LiveId" clId="{3DFEDEEC-196B-4188-BB58-09199A00E351}" dt="2026-09-11T17:39:36.059" v="17" actId="2696"/>
        <pc:sldMkLst>
          <pc:docMk/>
          <pc:sldMk cId="0" sldId="262"/>
        </pc:sldMkLst>
      </pc:sldChg>
      <pc:sldChg chg="delSp modSp mod">
        <pc:chgData name="Nikhil Charkupalli" userId="339a0925fb657c24" providerId="LiveId" clId="{3DFEDEEC-196B-4188-BB58-09199A00E351}" dt="2026-09-11T18:10:09.865" v="37" actId="1076"/>
        <pc:sldMkLst>
          <pc:docMk/>
          <pc:sldMk cId="0" sldId="264"/>
        </pc:sldMkLst>
        <pc:spChg chg="mod">
          <ac:chgData name="Nikhil Charkupalli" userId="339a0925fb657c24" providerId="LiveId" clId="{3DFEDEEC-196B-4188-BB58-09199A00E351}" dt="2026-09-11T18:09:38.209" v="33" actId="1076"/>
          <ac:spMkLst>
            <pc:docMk/>
            <pc:sldMk cId="0" sldId="264"/>
            <ac:spMk id="53" creationId="{00000000-0000-0000-0000-000000000000}"/>
          </ac:spMkLst>
        </pc:spChg>
        <pc:spChg chg="mod">
          <ac:chgData name="Nikhil Charkupalli" userId="339a0925fb657c24" providerId="LiveId" clId="{3DFEDEEC-196B-4188-BB58-09199A00E351}" dt="2026-09-11T18:09:34.878" v="32" actId="1076"/>
          <ac:spMkLst>
            <pc:docMk/>
            <pc:sldMk cId="0" sldId="264"/>
            <ac:spMk id="55" creationId="{00000000-0000-0000-0000-000000000000}"/>
          </ac:spMkLst>
        </pc:spChg>
        <pc:spChg chg="del">
          <ac:chgData name="Nikhil Charkupalli" userId="339a0925fb657c24" providerId="LiveId" clId="{3DFEDEEC-196B-4188-BB58-09199A00E351}" dt="2026-09-11T18:09:21.152" v="29" actId="478"/>
          <ac:spMkLst>
            <pc:docMk/>
            <pc:sldMk cId="0" sldId="264"/>
            <ac:spMk id="56" creationId="{00000000-0000-0000-0000-000000000000}"/>
          </ac:spMkLst>
        </pc:spChg>
        <pc:spChg chg="del mod">
          <ac:chgData name="Nikhil Charkupalli" userId="339a0925fb657c24" providerId="LiveId" clId="{3DFEDEEC-196B-4188-BB58-09199A00E351}" dt="2026-09-11T18:09:26.381" v="31" actId="478"/>
          <ac:spMkLst>
            <pc:docMk/>
            <pc:sldMk cId="0" sldId="264"/>
            <ac:spMk id="58" creationId="{00000000-0000-0000-0000-000000000000}"/>
          </ac:spMkLst>
        </pc:spChg>
        <pc:spChg chg="mod">
          <ac:chgData name="Nikhil Charkupalli" userId="339a0925fb657c24" providerId="LiveId" clId="{3DFEDEEC-196B-4188-BB58-09199A00E351}" dt="2026-09-11T18:10:01.974" v="36" actId="1076"/>
          <ac:spMkLst>
            <pc:docMk/>
            <pc:sldMk cId="0" sldId="264"/>
            <ac:spMk id="59" creationId="{00000000-0000-0000-0000-000000000000}"/>
          </ac:spMkLst>
        </pc:spChg>
        <pc:spChg chg="mod">
          <ac:chgData name="Nikhil Charkupalli" userId="339a0925fb657c24" providerId="LiveId" clId="{3DFEDEEC-196B-4188-BB58-09199A00E351}" dt="2026-09-11T18:09:52.850" v="34" actId="1076"/>
          <ac:spMkLst>
            <pc:docMk/>
            <pc:sldMk cId="0" sldId="264"/>
            <ac:spMk id="61" creationId="{00000000-0000-0000-0000-000000000000}"/>
          </ac:spMkLst>
        </pc:spChg>
        <pc:picChg chg="mod">
          <ac:chgData name="Nikhil Charkupalli" userId="339a0925fb657c24" providerId="LiveId" clId="{3DFEDEEC-196B-4188-BB58-09199A00E351}" dt="2026-09-11T18:10:09.865" v="37" actId="1076"/>
          <ac:picMkLst>
            <pc:docMk/>
            <pc:sldMk cId="0" sldId="264"/>
            <ac:picMk id="60" creationId="{00000000-0000-0000-0000-000000000000}"/>
          </ac:picMkLst>
        </pc:picChg>
      </pc:sldChg>
      <pc:sldChg chg="addSp modSp add del mod setBg">
        <pc:chgData name="Nikhil Charkupalli" userId="339a0925fb657c24" providerId="LiveId" clId="{3DFEDEEC-196B-4188-BB58-09199A00E351}" dt="2026-09-11T18:08:23.253" v="24" actId="20577"/>
        <pc:sldMkLst>
          <pc:docMk/>
          <pc:sldMk cId="0" sldId="265"/>
        </pc:sldMkLst>
        <pc:spChg chg="add mod">
          <ac:chgData name="Nikhil Charkupalli" userId="339a0925fb657c24" providerId="LiveId" clId="{3DFEDEEC-196B-4188-BB58-09199A00E351}" dt="2026-09-11T18:08:23.253" v="24" actId="20577"/>
          <ac:spMkLst>
            <pc:docMk/>
            <pc:sldMk cId="0" sldId="265"/>
            <ac:spMk id="133" creationId="{6EBF1E93-742F-8CAD-F2C8-0DC81D15401D}"/>
          </ac:spMkLst>
        </pc:spChg>
      </pc:sldChg>
      <pc:sldChg chg="new del">
        <pc:chgData name="Nikhil Charkupalli" userId="339a0925fb657c24" providerId="LiveId" clId="{3DFEDEEC-196B-4188-BB58-09199A00E351}" dt="2026-09-11T16:17:54.956" v="5" actId="680"/>
        <pc:sldMkLst>
          <pc:docMk/>
          <pc:sldMk cId="435269650" sldId="265"/>
        </pc:sldMkLst>
      </pc:sldChg>
      <pc:sldChg chg="add del setBg">
        <pc:chgData name="Nikhil Charkupalli" userId="339a0925fb657c24" providerId="LiveId" clId="{3DFEDEEC-196B-4188-BB58-09199A00E351}" dt="2026-09-11T16:17:53.471" v="4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968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B433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40916C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B.TECH PROJECT 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8686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FoodBridge AI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Food Surplus Redistribution Platform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173327"/>
          </a:solidFill>
          <a:ln w="12700">
            <a:solidFill>
              <a:srgbClr val="2C4B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97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quantities of surplus food from restaurants, events, and households go to waste, while many people still face food insecurity. Without a fast, organized, and trustworthy link between donors and receiver organizations, redistribution stays slow and inefficient.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25146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173327"/>
          </a:solidFill>
          <a:ln w="12700">
            <a:solidFill>
              <a:srgbClr val="2C4B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697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0175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FoodBridge AI is a digital platform connecting food donors with verified receiver organizations for faster redistribution — combining role-based access, donation management, AI-assisted priority prediction, and a trust &amp; verification system now in development.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12164" y="47091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2A5240"/>
          </a:solidFill>
          <a:ln/>
        </p:spPr>
      </p:sp>
      <p:pic>
        <p:nvPicPr>
          <p:cNvPr id="14" name="Image 0" descr="/home/claude/foodbridge_ppt/icons/utensi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56" y="4910328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089404" y="470916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332988" y="47091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3845052" y="47091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40916C"/>
          </a:solidFill>
          <a:ln/>
        </p:spPr>
      </p:sp>
      <p:pic>
        <p:nvPicPr>
          <p:cNvPr id="18" name="Image 1" descr="/home/claude/foodbridge_ppt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644" y="4910328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22292" y="470916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FoodBridge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865876" y="47091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377940" y="47091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2A5240"/>
          </a:solidFill>
          <a:ln/>
        </p:spPr>
      </p:sp>
      <p:pic>
        <p:nvPicPr>
          <p:cNvPr id="22" name="Image 2" descr="/home/claude/foodbridge_ppt/icons/hand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4910328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55180" y="470916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98764" y="47091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8910828" y="47091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2A5240"/>
          </a:solidFill>
          <a:ln/>
        </p:spPr>
      </p:sp>
      <p:pic>
        <p:nvPicPr>
          <p:cNvPr id="26" name="Image 3" descr="/home/claude/foodbridge_ppt/icons/he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5420" y="4910328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688068" y="470916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System Architecture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/ PRESENTATION LAYER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651760" y="169164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E7F1EA"/>
          </a:solidFill>
          <a:ln w="15875">
            <a:solidFill>
              <a:srgbClr val="1B4332"/>
            </a:solidFill>
            <a:prstDash val="solid"/>
          </a:ln>
          <a:effectLst>
            <a:outerShdw blurRad="50800" dist="25400" dir="5400000" algn="bl" rotWithShape="0">
              <a:srgbClr val="8FAF9E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651760" y="16916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Donor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69164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E7F1EA"/>
          </a:solidFill>
          <a:ln w="15875">
            <a:solidFill>
              <a:srgbClr val="1B4332"/>
            </a:solidFill>
            <a:prstDash val="solid"/>
          </a:ln>
          <a:effectLst>
            <a:outerShdw blurRad="50800" dist="25400" dir="5400000" algn="bl" rotWithShape="0">
              <a:srgbClr val="8FAF9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6916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E7F1EA"/>
          </a:solidFill>
          <a:ln w="15875">
            <a:solidFill>
              <a:srgbClr val="1B4332"/>
            </a:solidFill>
            <a:prstDash val="solid"/>
          </a:ln>
          <a:effectLst>
            <a:outerShdw blurRad="50800" dist="25400" dir="5400000" algn="bl" rotWithShape="0">
              <a:srgbClr val="8FAF9E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6916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4476" y="2258568"/>
            <a:ext cx="0" cy="13716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450592"/>
            <a:ext cx="10817352" cy="502920"/>
          </a:xfrm>
          <a:prstGeom prst="roundRect">
            <a:avLst>
              <a:gd name="adj" fmla="val 12727"/>
            </a:avLst>
          </a:prstGeom>
          <a:solidFill>
            <a:srgbClr val="DCEBE1"/>
          </a:solidFill>
          <a:ln w="15875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4963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450592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+ Tailwind CSS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94476" y="2953512"/>
            <a:ext cx="0" cy="118872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" y="3127248"/>
            <a:ext cx="1081735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5875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APPLICATION LAYER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68680" y="3511296"/>
            <a:ext cx="2489454" cy="530352"/>
          </a:xfrm>
          <a:prstGeom prst="roundRect">
            <a:avLst>
              <a:gd name="adj" fmla="val 10345"/>
            </a:avLst>
          </a:prstGeom>
          <a:solidFill>
            <a:srgbClr val="E7F1E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511296"/>
            <a:ext cx="24894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Security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2726" y="3511296"/>
            <a:ext cx="2489454" cy="530352"/>
          </a:xfrm>
          <a:prstGeom prst="roundRect">
            <a:avLst>
              <a:gd name="adj" fmla="val 10345"/>
            </a:avLst>
          </a:prstGeom>
          <a:solidFill>
            <a:srgbClr val="E7F1E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2726" y="3511296"/>
            <a:ext cx="24894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6772" y="3511296"/>
            <a:ext cx="2489454" cy="530352"/>
          </a:xfrm>
          <a:prstGeom prst="roundRect">
            <a:avLst>
              <a:gd name="adj" fmla="val 10345"/>
            </a:avLst>
          </a:prstGeom>
          <a:solidFill>
            <a:srgbClr val="E7F1E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6772" y="3511296"/>
            <a:ext cx="24894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30818" y="3511296"/>
            <a:ext cx="2489454" cy="530352"/>
          </a:xfrm>
          <a:prstGeom prst="roundRect">
            <a:avLst>
              <a:gd name="adj" fmla="val 10345"/>
            </a:avLst>
          </a:prstGeom>
          <a:solidFill>
            <a:srgbClr val="E7F1E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30818" y="3511296"/>
            <a:ext cx="24894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Upload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4187952"/>
            <a:ext cx="3374136" cy="530352"/>
          </a:xfrm>
          <a:prstGeom prst="roundRect">
            <a:avLst>
              <a:gd name="adj" fmla="val 10345"/>
            </a:avLst>
          </a:prstGeom>
          <a:solidFill>
            <a:srgbClr val="E7F1E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4187952"/>
            <a:ext cx="3374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Priority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07408" y="4187952"/>
            <a:ext cx="3374136" cy="530352"/>
          </a:xfrm>
          <a:prstGeom prst="roundRect">
            <a:avLst>
              <a:gd name="adj" fmla="val 10345"/>
            </a:avLst>
          </a:prstGeom>
          <a:solidFill>
            <a:srgbClr val="E7F1E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7408" y="4187952"/>
            <a:ext cx="3374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46136" y="4187952"/>
            <a:ext cx="3374136" cy="530352"/>
          </a:xfrm>
          <a:prstGeom prst="roundRect">
            <a:avLst>
              <a:gd name="adj" fmla="val 10345"/>
            </a:avLst>
          </a:prstGeom>
          <a:solidFill>
            <a:srgbClr val="E7F1E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46136" y="4187952"/>
            <a:ext cx="3374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APIs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94476" y="4864608"/>
            <a:ext cx="0" cy="338328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5800" y="5257800"/>
            <a:ext cx="3453384" cy="1051560"/>
          </a:xfrm>
          <a:prstGeom prst="roundRect">
            <a:avLst>
              <a:gd name="adj" fmla="val 6087"/>
            </a:avLst>
          </a:prstGeom>
          <a:solidFill>
            <a:srgbClr val="173B2C"/>
          </a:solidFill>
          <a:ln w="6350">
            <a:solidFill>
              <a:srgbClr val="173B2C"/>
            </a:solidFill>
            <a:prstDash val="solid"/>
          </a:ln>
          <a:effectLst>
            <a:outerShdw blurRad="63500" dist="38100" dir="5400000" algn="bl" rotWithShape="0">
              <a:srgbClr val="0B2418">
                <a:alpha val="4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34924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641848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Donations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Verification Info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Prediction Data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67784" y="5257800"/>
            <a:ext cx="3453384" cy="1051560"/>
          </a:xfrm>
          <a:prstGeom prst="roundRect">
            <a:avLst>
              <a:gd name="adj" fmla="val 6087"/>
            </a:avLst>
          </a:prstGeom>
          <a:solidFill>
            <a:srgbClr val="173B2C"/>
          </a:solidFill>
          <a:ln w="6350">
            <a:solidFill>
              <a:srgbClr val="173B2C"/>
            </a:solidFill>
            <a:prstDash val="solid"/>
          </a:ln>
          <a:effectLst>
            <a:outerShdw blurRad="63500" dist="38100" dir="5400000" algn="bl" rotWithShape="0">
              <a:srgbClr val="0B2418">
                <a:alpha val="4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550664" y="534924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Storage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550664" y="5641848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Food Images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Packaging Images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Verification Documents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49768" y="5257800"/>
            <a:ext cx="3453384" cy="1051560"/>
          </a:xfrm>
          <a:prstGeom prst="roundRect">
            <a:avLst>
              <a:gd name="adj" fmla="val 6087"/>
            </a:avLst>
          </a:prstGeom>
          <a:solidFill>
            <a:srgbClr val="173B2C"/>
          </a:solidFill>
          <a:ln w="6350">
            <a:solidFill>
              <a:srgbClr val="173B2C"/>
            </a:solidFill>
            <a:prstDash val="solid"/>
          </a:ln>
          <a:effectLst>
            <a:outerShdw blurRad="63500" dist="38100" dir="5400000" algn="bl" rotWithShape="0">
              <a:srgbClr val="0B2418">
                <a:alpha val="4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32648" y="534924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Module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32648" y="5641848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Donation Priority Prediction Analyzes donation features to output a priority level with a confidence score.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11480" y="66751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flow: User → Frontend → FastAPI → MongoDB / AI / File Storage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778240" y="6675120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8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FoodBridge AI  |  2 / 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654046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3502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/>
        </p:spPr>
      </p:sp>
      <p:pic>
        <p:nvPicPr>
          <p:cNvPr id="6" name="Image 0" descr="/home/claude/foodbridge_ppt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264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654046" y="13167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828800"/>
            <a:ext cx="2324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Security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322576"/>
            <a:ext cx="232486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Registration &amp; Login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authentication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Password hashing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Role-based access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621792" y="3200400"/>
            <a:ext cx="1135685" cy="2743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3300984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200400"/>
            <a:ext cx="82478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30702" y="1170432"/>
            <a:ext cx="2654046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95294" y="133502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/>
        </p:spPr>
      </p:sp>
      <p:pic>
        <p:nvPicPr>
          <p:cNvPr id="15" name="Image 1" descr="/home/claude/foodbridge_ppt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734" y="1426464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27548" y="13167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3495294" y="1828800"/>
            <a:ext cx="2324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Org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3495294" y="2322576"/>
            <a:ext cx="232486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Donor profiles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Receiver org profiles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management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Organization info</a:t>
            </a:r>
            <a:endParaRPr lang="en-US" sz="870" dirty="0"/>
          </a:p>
        </p:txBody>
      </p:sp>
      <p:sp>
        <p:nvSpPr>
          <p:cNvPr id="19" name="Shape 15"/>
          <p:cNvSpPr/>
          <p:nvPr/>
        </p:nvSpPr>
        <p:spPr>
          <a:xfrm>
            <a:off x="3495294" y="3200400"/>
            <a:ext cx="1135685" cy="2743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/>
        </p:spPr>
      </p:sp>
      <p:sp>
        <p:nvSpPr>
          <p:cNvPr id="20" name="Shape 16"/>
          <p:cNvSpPr/>
          <p:nvPr/>
        </p:nvSpPr>
        <p:spPr>
          <a:xfrm>
            <a:off x="3623310" y="3300984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742182" y="3200400"/>
            <a:ext cx="82478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04204" y="1170432"/>
            <a:ext cx="2654046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68796" y="133502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/>
        </p:spPr>
      </p:sp>
      <p:pic>
        <p:nvPicPr>
          <p:cNvPr id="24" name="Image 2" descr="/home/claude/foodbridge_ppt/icons/restaur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142646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401050" y="13167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6368796" y="1828800"/>
            <a:ext cx="2324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Donation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6368796" y="2322576"/>
            <a:ext cx="232486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donation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Servings &amp; pickup deadline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Donation status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Acceptance tracking</a:t>
            </a:r>
            <a:endParaRPr lang="en-US" sz="870" dirty="0"/>
          </a:p>
        </p:txBody>
      </p:sp>
      <p:sp>
        <p:nvSpPr>
          <p:cNvPr id="28" name="Shape 23"/>
          <p:cNvSpPr/>
          <p:nvPr/>
        </p:nvSpPr>
        <p:spPr>
          <a:xfrm>
            <a:off x="6368796" y="3200400"/>
            <a:ext cx="1135685" cy="2743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/>
        </p:spPr>
      </p:sp>
      <p:sp>
        <p:nvSpPr>
          <p:cNvPr id="29" name="Shape 24"/>
          <p:cNvSpPr/>
          <p:nvPr/>
        </p:nvSpPr>
        <p:spPr>
          <a:xfrm>
            <a:off x="6496812" y="3300984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615684" y="3200400"/>
            <a:ext cx="82478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9077706" y="1170432"/>
            <a:ext cx="2654046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242298" y="133502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/>
        </p:spPr>
      </p:sp>
      <p:pic>
        <p:nvPicPr>
          <p:cNvPr id="33" name="Image 3" descr="/home/claude/foodbridge_ppt/icons/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738" y="1426464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274552" y="13167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9242298" y="1828800"/>
            <a:ext cx="2324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36" name="Text 30"/>
          <p:cNvSpPr txBox="1"/>
          <p:nvPr/>
        </p:nvSpPr>
        <p:spPr>
          <a:xfrm>
            <a:off x="9242298" y="2322576"/>
            <a:ext cx="232486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Food image upload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Packaging image upload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File storage &amp; access</a:t>
            </a:r>
            <a:endParaRPr lang="en-US" sz="870" dirty="0"/>
          </a:p>
        </p:txBody>
      </p:sp>
      <p:sp>
        <p:nvSpPr>
          <p:cNvPr id="37" name="Shape 31"/>
          <p:cNvSpPr/>
          <p:nvPr/>
        </p:nvSpPr>
        <p:spPr>
          <a:xfrm>
            <a:off x="9242298" y="3200400"/>
            <a:ext cx="1135685" cy="2743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/>
        </p:spPr>
      </p:sp>
      <p:sp>
        <p:nvSpPr>
          <p:cNvPr id="38" name="Shape 32"/>
          <p:cNvSpPr/>
          <p:nvPr/>
        </p:nvSpPr>
        <p:spPr>
          <a:xfrm>
            <a:off x="9370314" y="3300984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9489186" y="3200400"/>
            <a:ext cx="82478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457200" y="3785616"/>
            <a:ext cx="2654046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21792" y="39502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/>
        </p:spPr>
      </p:sp>
      <p:pic>
        <p:nvPicPr>
          <p:cNvPr id="42" name="Image 4" descr="/home/claude/foodbridge_ppt/icons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041648"/>
            <a:ext cx="237744" cy="237744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2654046" y="393192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50" dirty="0"/>
          </a:p>
        </p:txBody>
      </p:sp>
      <p:sp>
        <p:nvSpPr>
          <p:cNvPr id="44" name="Text 37"/>
          <p:cNvSpPr txBox="1"/>
          <p:nvPr/>
        </p:nvSpPr>
        <p:spPr>
          <a:xfrm>
            <a:off x="621792" y="4443984"/>
            <a:ext cx="2324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Priority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45" name="Text 38"/>
          <p:cNvSpPr txBox="1"/>
          <p:nvPr/>
        </p:nvSpPr>
        <p:spPr>
          <a:xfrm>
            <a:off x="621792" y="4937760"/>
            <a:ext cx="232486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Analyze donation features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 priority level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confidence score</a:t>
            </a:r>
            <a:endParaRPr lang="en-US" sz="870" dirty="0"/>
          </a:p>
        </p:txBody>
      </p:sp>
      <p:sp>
        <p:nvSpPr>
          <p:cNvPr id="46" name="Shape 39"/>
          <p:cNvSpPr/>
          <p:nvPr/>
        </p:nvSpPr>
        <p:spPr>
          <a:xfrm>
            <a:off x="621792" y="5815584"/>
            <a:ext cx="1135685" cy="2743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/>
        </p:spPr>
      </p:sp>
      <p:sp>
        <p:nvSpPr>
          <p:cNvPr id="47" name="Shape 40"/>
          <p:cNvSpPr/>
          <p:nvPr/>
        </p:nvSpPr>
        <p:spPr>
          <a:xfrm>
            <a:off x="749808" y="5916168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868680" y="5815584"/>
            <a:ext cx="82478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3330702" y="3785616"/>
            <a:ext cx="2654046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9050">
            <a:solidFill>
              <a:srgbClr val="D98E04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3495294" y="39502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BEFD9"/>
          </a:solidFill>
          <a:ln/>
        </p:spPr>
      </p:sp>
      <p:pic>
        <p:nvPicPr>
          <p:cNvPr id="51" name="Image 5" descr="/home/claude/foodbridge_ppt/icons/verifi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6734" y="4041648"/>
            <a:ext cx="237744" cy="237744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5527548" y="393192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/>
          </a:p>
        </p:txBody>
      </p:sp>
      <p:sp>
        <p:nvSpPr>
          <p:cNvPr id="53" name="Text 45"/>
          <p:cNvSpPr txBox="1"/>
          <p:nvPr/>
        </p:nvSpPr>
        <p:spPr>
          <a:xfrm>
            <a:off x="3495294" y="4443984"/>
            <a:ext cx="2324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250" dirty="0"/>
          </a:p>
        </p:txBody>
      </p:sp>
      <p:sp>
        <p:nvSpPr>
          <p:cNvPr id="54" name="Text 46"/>
          <p:cNvSpPr txBox="1"/>
          <p:nvPr/>
        </p:nvSpPr>
        <p:spPr>
          <a:xfrm>
            <a:off x="3495294" y="4937760"/>
            <a:ext cx="232486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Registration documents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Government ID &amp; logo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verification</a:t>
            </a:r>
            <a:endParaRPr lang="en-US" sz="870" dirty="0"/>
          </a:p>
        </p:txBody>
      </p:sp>
      <p:sp>
        <p:nvSpPr>
          <p:cNvPr id="55" name="Shape 47"/>
          <p:cNvSpPr/>
          <p:nvPr/>
        </p:nvSpPr>
        <p:spPr>
          <a:xfrm>
            <a:off x="3495294" y="5815584"/>
            <a:ext cx="1135685" cy="274320"/>
          </a:xfrm>
          <a:prstGeom prst="roundRect">
            <a:avLst>
              <a:gd name="adj" fmla="val 50000"/>
            </a:avLst>
          </a:prstGeom>
          <a:solidFill>
            <a:srgbClr val="FBEFD9"/>
          </a:solidFill>
          <a:ln/>
        </p:spPr>
      </p:sp>
      <p:sp>
        <p:nvSpPr>
          <p:cNvPr id="56" name="Shape 48"/>
          <p:cNvSpPr/>
          <p:nvPr/>
        </p:nvSpPr>
        <p:spPr>
          <a:xfrm>
            <a:off x="3623310" y="5916168"/>
            <a:ext cx="73152" cy="7315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3742182" y="5815584"/>
            <a:ext cx="82478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58" name="Shape 50"/>
          <p:cNvSpPr/>
          <p:nvPr/>
        </p:nvSpPr>
        <p:spPr>
          <a:xfrm>
            <a:off x="6204204" y="3785616"/>
            <a:ext cx="2654046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9" name="Shape 51"/>
          <p:cNvSpPr/>
          <p:nvPr/>
        </p:nvSpPr>
        <p:spPr>
          <a:xfrm>
            <a:off x="6368796" y="39502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/>
        </p:spPr>
      </p:sp>
      <p:pic>
        <p:nvPicPr>
          <p:cNvPr id="60" name="Image 6" descr="/home/claude/foodbridge_ppt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0236" y="4041648"/>
            <a:ext cx="237744" cy="237744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8401050" y="393192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50" dirty="0"/>
          </a:p>
        </p:txBody>
      </p:sp>
      <p:sp>
        <p:nvSpPr>
          <p:cNvPr id="62" name="Text 53"/>
          <p:cNvSpPr txBox="1"/>
          <p:nvPr/>
        </p:nvSpPr>
        <p:spPr>
          <a:xfrm>
            <a:off x="6368796" y="4443984"/>
            <a:ext cx="2324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Analytics</a:t>
            </a:r>
            <a:endParaRPr lang="en-US" sz="1250" dirty="0"/>
          </a:p>
        </p:txBody>
      </p:sp>
      <p:sp>
        <p:nvSpPr>
          <p:cNvPr id="63" name="Text 54"/>
          <p:cNvSpPr txBox="1"/>
          <p:nvPr/>
        </p:nvSpPr>
        <p:spPr>
          <a:xfrm>
            <a:off x="6368796" y="4937760"/>
            <a:ext cx="232486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Donor statistics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Receiver statistics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statistics</a:t>
            </a:r>
            <a:endParaRPr lang="en-US" sz="87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Redistribution impact</a:t>
            </a:r>
            <a:endParaRPr lang="en-US" sz="870" dirty="0"/>
          </a:p>
        </p:txBody>
      </p:sp>
      <p:sp>
        <p:nvSpPr>
          <p:cNvPr id="64" name="Shape 55"/>
          <p:cNvSpPr/>
          <p:nvPr/>
        </p:nvSpPr>
        <p:spPr>
          <a:xfrm>
            <a:off x="6368796" y="5815584"/>
            <a:ext cx="1135685" cy="27432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/>
        </p:spPr>
      </p:sp>
      <p:sp>
        <p:nvSpPr>
          <p:cNvPr id="65" name="Shape 56"/>
          <p:cNvSpPr/>
          <p:nvPr/>
        </p:nvSpPr>
        <p:spPr>
          <a:xfrm>
            <a:off x="6496812" y="5916168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6" name="Text 57"/>
          <p:cNvSpPr txBox="1"/>
          <p:nvPr/>
        </p:nvSpPr>
        <p:spPr>
          <a:xfrm>
            <a:off x="6615684" y="5815584"/>
            <a:ext cx="82478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67" name="Shape 58"/>
          <p:cNvSpPr/>
          <p:nvPr/>
        </p:nvSpPr>
        <p:spPr>
          <a:xfrm>
            <a:off x="9077706" y="3785616"/>
            <a:ext cx="2654046" cy="2395728"/>
          </a:xfrm>
          <a:prstGeom prst="roundRect">
            <a:avLst>
              <a:gd name="adj" fmla="val 3435"/>
            </a:avLst>
          </a:prstGeom>
          <a:solidFill>
            <a:srgbClr val="1B4332"/>
          </a:solidFill>
          <a:ln/>
        </p:spPr>
      </p:sp>
      <p:pic>
        <p:nvPicPr>
          <p:cNvPr id="68" name="Image 7" descr="/home/claude/foodbridge_ppt/icons/layer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2298" y="3968496"/>
            <a:ext cx="365760" cy="365760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9260586" y="4498848"/>
            <a:ext cx="228828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i="1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work together as one connected platform — from secure login to AI-assisted redistribution.</a:t>
            </a:r>
            <a:endParaRPr lang="en-US" sz="1000" dirty="0"/>
          </a:p>
        </p:txBody>
      </p:sp>
      <p:sp>
        <p:nvSpPr>
          <p:cNvPr id="70" name="Text 60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interaction across the FoodBridge AI backend</a:t>
            </a:r>
            <a:endParaRPr lang="en-US" sz="900" dirty="0"/>
          </a:p>
        </p:txBody>
      </p:sp>
      <p:sp>
        <p:nvSpPr>
          <p:cNvPr id="71" name="Text 61"/>
          <p:cNvSpPr txBox="1"/>
          <p:nvPr/>
        </p:nvSpPr>
        <p:spPr>
          <a:xfrm>
            <a:off x="9171432" y="6547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FoodBridge AI  |  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PROCESS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Donation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605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160520" cy="411480"/>
          </a:xfrm>
          <a:prstGeom prst="roundRect">
            <a:avLst>
              <a:gd name="adj" fmla="val 17778"/>
            </a:avLst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4160520" cy="9144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7" name="Image 0" descr="/home/claude/foodbridge_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271016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1188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Collection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19072"/>
            <a:ext cx="17602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ID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Name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Organization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628900" y="1719072"/>
            <a:ext cx="17602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Location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Contact Number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Verification Status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Organization Info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Created At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050792"/>
            <a:ext cx="41605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050792"/>
            <a:ext cx="4160520" cy="411480"/>
          </a:xfrm>
          <a:prstGeom prst="roundRect">
            <a:avLst>
              <a:gd name="adj" fmla="val 17778"/>
            </a:avLst>
          </a:prstGeom>
          <a:solidFill>
            <a:srgbClr val="40916C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4370832"/>
            <a:ext cx="4160520" cy="9144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14" name="Image 1" descr="/home/claude/foodbridge_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133088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40507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Collection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581144"/>
            <a:ext cx="17602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Donation ID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Donor User ID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Food Name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Servings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2628900" y="4581144"/>
            <a:ext cx="17602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Prep Time / Deadline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Location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Food &amp; Packaging Image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Priority / AI Confidence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 / Accepted By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372514" y="3794760"/>
            <a:ext cx="0" cy="256032"/>
          </a:xfrm>
          <a:prstGeom prst="line">
            <a:avLst/>
          </a:prstGeom>
          <a:noFill/>
          <a:ln w="19050">
            <a:solidFill>
              <a:srgbClr val="40916C"/>
            </a:solidFill>
            <a:prstDash val="dash"/>
            <a:tailEnd type="triangle"/>
          </a:ln>
        </p:spPr>
      </p:sp>
      <p:sp>
        <p:nvSpPr>
          <p:cNvPr id="19" name="Text 15"/>
          <p:cNvSpPr txBox="1"/>
          <p:nvPr/>
        </p:nvSpPr>
        <p:spPr>
          <a:xfrm>
            <a:off x="1463954" y="3813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5074920" y="1170432"/>
            <a:ext cx="6656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WORKFLOW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230368" y="1773936"/>
            <a:ext cx="0" cy="173736"/>
          </a:xfrm>
          <a:prstGeom prst="line">
            <a:avLst/>
          </a:prstGeom>
          <a:noFill/>
          <a:ln w="19050">
            <a:solidFill>
              <a:srgbClr val="C7DBC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74920" y="1463040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74920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568696" y="1417320"/>
            <a:ext cx="61630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E6D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715000" y="1417320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Registers / Logs In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5230368" y="2258568"/>
            <a:ext cx="0" cy="173736"/>
          </a:xfrm>
          <a:prstGeom prst="line">
            <a:avLst/>
          </a:prstGeom>
          <a:noFill/>
          <a:ln w="19050">
            <a:solidFill>
              <a:srgbClr val="C7DBC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74920" y="1947672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507492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568696" y="1901952"/>
            <a:ext cx="61630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E6D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715000" y="1901952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Creates Food Donation</a:t>
            </a:r>
            <a:endParaRPr lang="en-US" sz="1080" dirty="0"/>
          </a:p>
        </p:txBody>
      </p:sp>
      <p:sp>
        <p:nvSpPr>
          <p:cNvPr id="31" name="Shape 27"/>
          <p:cNvSpPr/>
          <p:nvPr/>
        </p:nvSpPr>
        <p:spPr>
          <a:xfrm>
            <a:off x="5230368" y="2743200"/>
            <a:ext cx="0" cy="173736"/>
          </a:xfrm>
          <a:prstGeom prst="line">
            <a:avLst/>
          </a:prstGeom>
          <a:noFill/>
          <a:ln w="19050">
            <a:solidFill>
              <a:srgbClr val="C7DBC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074920" y="2432304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507492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568696" y="2386584"/>
            <a:ext cx="61630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E6D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715000" y="2386584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Images Uploaded</a:t>
            </a:r>
            <a:endParaRPr lang="en-US" sz="1080" dirty="0"/>
          </a:p>
        </p:txBody>
      </p:sp>
      <p:sp>
        <p:nvSpPr>
          <p:cNvPr id="36" name="Shape 32"/>
          <p:cNvSpPr/>
          <p:nvPr/>
        </p:nvSpPr>
        <p:spPr>
          <a:xfrm>
            <a:off x="5230368" y="3227832"/>
            <a:ext cx="0" cy="173736"/>
          </a:xfrm>
          <a:prstGeom prst="line">
            <a:avLst/>
          </a:prstGeom>
          <a:noFill/>
          <a:ln w="19050">
            <a:solidFill>
              <a:srgbClr val="C7DBCD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074920" y="2916936"/>
            <a:ext cx="310896" cy="31089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507492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5568696" y="2871216"/>
            <a:ext cx="6163056" cy="365760"/>
          </a:xfrm>
          <a:prstGeom prst="roundRect">
            <a:avLst>
              <a:gd name="adj" fmla="val 15000"/>
            </a:avLst>
          </a:prstGeom>
          <a:solidFill>
            <a:srgbClr val="EAF3EE"/>
          </a:solidFill>
          <a:ln w="9525">
            <a:solidFill>
              <a:srgbClr val="D8E6DC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715000" y="2871216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Priority Prediction Runs</a:t>
            </a:r>
            <a:endParaRPr lang="en-US" sz="1080" dirty="0"/>
          </a:p>
        </p:txBody>
      </p:sp>
      <p:sp>
        <p:nvSpPr>
          <p:cNvPr id="41" name="Shape 37"/>
          <p:cNvSpPr/>
          <p:nvPr/>
        </p:nvSpPr>
        <p:spPr>
          <a:xfrm>
            <a:off x="5230368" y="3712464"/>
            <a:ext cx="0" cy="173736"/>
          </a:xfrm>
          <a:prstGeom prst="line">
            <a:avLst/>
          </a:prstGeom>
          <a:noFill/>
          <a:ln w="19050">
            <a:solidFill>
              <a:srgbClr val="C7DBCD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074920" y="3401568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507492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568696" y="3355848"/>
            <a:ext cx="61630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E6D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715000" y="3355848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Listed as Available</a:t>
            </a:r>
            <a:endParaRPr lang="en-US" sz="1080" dirty="0"/>
          </a:p>
        </p:txBody>
      </p:sp>
      <p:sp>
        <p:nvSpPr>
          <p:cNvPr id="46" name="Shape 42"/>
          <p:cNvSpPr/>
          <p:nvPr/>
        </p:nvSpPr>
        <p:spPr>
          <a:xfrm>
            <a:off x="5230368" y="4197096"/>
            <a:ext cx="0" cy="173736"/>
          </a:xfrm>
          <a:prstGeom prst="line">
            <a:avLst/>
          </a:prstGeom>
          <a:noFill/>
          <a:ln w="19050">
            <a:solidFill>
              <a:srgbClr val="C7DBCD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074920" y="3886200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507492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5568696" y="3840480"/>
            <a:ext cx="61630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E6DC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715000" y="3840480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Org Views Donation</a:t>
            </a:r>
            <a:endParaRPr lang="en-US" sz="1080" dirty="0"/>
          </a:p>
        </p:txBody>
      </p:sp>
      <p:sp>
        <p:nvSpPr>
          <p:cNvPr id="51" name="Shape 47"/>
          <p:cNvSpPr/>
          <p:nvPr/>
        </p:nvSpPr>
        <p:spPr>
          <a:xfrm>
            <a:off x="5230368" y="4681728"/>
            <a:ext cx="0" cy="173736"/>
          </a:xfrm>
          <a:prstGeom prst="line">
            <a:avLst/>
          </a:prstGeom>
          <a:noFill/>
          <a:ln w="19050">
            <a:solidFill>
              <a:srgbClr val="C7DBCD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074920" y="4370832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507492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5568696" y="4325112"/>
            <a:ext cx="61630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E6DC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5715000" y="4325112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Accepts Donation</a:t>
            </a:r>
            <a:endParaRPr lang="en-US" sz="1080" dirty="0"/>
          </a:p>
        </p:txBody>
      </p:sp>
      <p:sp>
        <p:nvSpPr>
          <p:cNvPr id="56" name="Shape 52"/>
          <p:cNvSpPr/>
          <p:nvPr/>
        </p:nvSpPr>
        <p:spPr>
          <a:xfrm>
            <a:off x="5230368" y="5166360"/>
            <a:ext cx="0" cy="173736"/>
          </a:xfrm>
          <a:prstGeom prst="line">
            <a:avLst/>
          </a:prstGeom>
          <a:noFill/>
          <a:ln w="19050">
            <a:solidFill>
              <a:srgbClr val="C7DBCD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074920" y="4855464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5074920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9" name="Shape 55"/>
          <p:cNvSpPr/>
          <p:nvPr/>
        </p:nvSpPr>
        <p:spPr>
          <a:xfrm>
            <a:off x="5568696" y="4809744"/>
            <a:ext cx="61630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E6DC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5715000" y="4809744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Collected</a:t>
            </a:r>
            <a:endParaRPr lang="en-US" sz="1080" dirty="0"/>
          </a:p>
        </p:txBody>
      </p:sp>
      <p:sp>
        <p:nvSpPr>
          <p:cNvPr id="61" name="Shape 57"/>
          <p:cNvSpPr/>
          <p:nvPr/>
        </p:nvSpPr>
        <p:spPr>
          <a:xfrm>
            <a:off x="5074920" y="5340096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5074920" y="5340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3" name="Shape 59"/>
          <p:cNvSpPr/>
          <p:nvPr/>
        </p:nvSpPr>
        <p:spPr>
          <a:xfrm>
            <a:off x="5568696" y="5294376"/>
            <a:ext cx="61630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E6DC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5715000" y="5294376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Marked Completed</a:t>
            </a:r>
            <a:endParaRPr lang="en-US" sz="1080" dirty="0"/>
          </a:p>
        </p:txBody>
      </p:sp>
      <p:sp>
        <p:nvSpPr>
          <p:cNvPr id="65" name="Text 61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(Donor) → creates → DONATION → accepted by → RECEIVER ORG → Collected / Completed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9171432" y="6547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FoodBridge AI  |  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DCEFE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60350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Technical Design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  •   Scalable   •   Efficient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5522976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5875">
            <a:solidFill>
              <a:srgbClr val="1E7145"/>
            </a:solidFill>
            <a:prstDash val="solid"/>
          </a:ln>
          <a:effectLst>
            <a:outerShdw blurRad="63500" dist="25400" dir="5400000" algn="bl" rotWithShape="0">
              <a:srgbClr val="9CA8A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00200"/>
            <a:ext cx="5522976" cy="502920"/>
          </a:xfrm>
          <a:prstGeom prst="roundRect">
            <a:avLst>
              <a:gd name="adj" fmla="val 12727"/>
            </a:avLst>
          </a:prstGeom>
          <a:solidFill>
            <a:srgbClr val="1E7145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011680"/>
            <a:ext cx="5522976" cy="91440"/>
          </a:xfrm>
          <a:prstGeom prst="rect">
            <a:avLst/>
          </a:prstGeom>
          <a:solidFill>
            <a:srgbClr val="1E714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17145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6072" y="1714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160020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JWT Security &amp; Access Control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489704" y="17145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9704" y="17145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" y="2258568"/>
            <a:ext cx="932688" cy="1234440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 w="9525">
            <a:solidFill>
              <a:srgbClr val="BFE0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2359152"/>
            <a:ext cx="384048" cy="384048"/>
          </a:xfrm>
          <a:prstGeom prst="ellipse">
            <a:avLst/>
          </a:prstGeom>
          <a:solidFill>
            <a:srgbClr val="CFE9D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280720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Login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1729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(Email + Password)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517904" y="2551176"/>
            <a:ext cx="100584" cy="0"/>
          </a:xfrm>
          <a:prstGeom prst="line">
            <a:avLst/>
          </a:prstGeom>
          <a:noFill/>
          <a:ln w="19050">
            <a:solidFill>
              <a:srgbClr val="94A3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627632" y="2258568"/>
            <a:ext cx="932688" cy="1234440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 w="9525">
            <a:solidFill>
              <a:srgbClr val="BFE0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1952" y="2359152"/>
            <a:ext cx="384048" cy="384048"/>
          </a:xfrm>
          <a:prstGeom prst="ellipse">
            <a:avLst/>
          </a:prstGeom>
          <a:solidFill>
            <a:srgbClr val="CFE9D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90195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73352" y="280720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Verified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673352" y="31729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(Password Hashing)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9464" y="2551176"/>
            <a:ext cx="100584" cy="0"/>
          </a:xfrm>
          <a:prstGeom prst="line">
            <a:avLst/>
          </a:prstGeom>
          <a:noFill/>
          <a:ln w="19050">
            <a:solidFill>
              <a:srgbClr val="94A3A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679192" y="2258568"/>
            <a:ext cx="932688" cy="1234440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 w="9525">
            <a:solidFill>
              <a:srgbClr val="BFE0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53512" y="2359152"/>
            <a:ext cx="384048" cy="384048"/>
          </a:xfrm>
          <a:prstGeom prst="ellipse">
            <a:avLst/>
          </a:prstGeom>
          <a:solidFill>
            <a:srgbClr val="CFE9D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95351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2724912" y="280720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 Generated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724912" y="31729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(Secure Token)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21024" y="2551176"/>
            <a:ext cx="100584" cy="0"/>
          </a:xfrm>
          <a:prstGeom prst="line">
            <a:avLst/>
          </a:prstGeom>
          <a:noFill/>
          <a:ln w="19050">
            <a:solidFill>
              <a:srgbClr val="94A3A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30752" y="2258568"/>
            <a:ext cx="932688" cy="1234440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 w="9525">
            <a:solidFill>
              <a:srgbClr val="BFE0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05072" y="2359152"/>
            <a:ext cx="384048" cy="384048"/>
          </a:xfrm>
          <a:prstGeom prst="ellipse">
            <a:avLst/>
          </a:prstGeom>
          <a:solidFill>
            <a:srgbClr val="CFE9D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00507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776472" y="280720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Sent With Requests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776472" y="31729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 Calls)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72584" y="2551176"/>
            <a:ext cx="100584" cy="0"/>
          </a:xfrm>
          <a:prstGeom prst="line">
            <a:avLst/>
          </a:prstGeom>
          <a:noFill/>
          <a:ln w="19050">
            <a:solidFill>
              <a:srgbClr val="94A3A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782312" y="2258568"/>
            <a:ext cx="932688" cy="1234440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 w="9525">
            <a:solidFill>
              <a:srgbClr val="BFE0C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56632" y="2359152"/>
            <a:ext cx="384048" cy="384048"/>
          </a:xfrm>
          <a:prstGeom prst="ellipse">
            <a:avLst/>
          </a:prstGeom>
          <a:solidFill>
            <a:srgbClr val="CFE9D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05663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828032" y="280720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828032" y="31729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(Donor/Receiver/Admin)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072" y="3547872"/>
            <a:ext cx="5193792" cy="301752"/>
          </a:xfrm>
          <a:prstGeom prst="roundRect">
            <a:avLst>
              <a:gd name="adj" fmla="val 15152"/>
            </a:avLst>
          </a:prstGeom>
          <a:solidFill>
            <a:srgbClr val="E7F4E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5800" y="3547872"/>
            <a:ext cx="182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68680" y="354787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2130552" y="3547872"/>
            <a:ext cx="182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2313432" y="354787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3529584" y="3547872"/>
            <a:ext cx="182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3712464" y="354787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54496" y="1600200"/>
            <a:ext cx="5522976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5875">
            <a:solidFill>
              <a:srgbClr val="D6900E"/>
            </a:solidFill>
            <a:prstDash val="solid"/>
          </a:ln>
          <a:effectLst>
            <a:outerShdw blurRad="63500" dist="25400" dir="5400000" algn="bl" rotWithShape="0">
              <a:srgbClr val="9CA8A2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54496" y="1600200"/>
            <a:ext cx="5522976" cy="502920"/>
          </a:xfrm>
          <a:prstGeom prst="roundRect">
            <a:avLst>
              <a:gd name="adj" fmla="val 12727"/>
            </a:avLst>
          </a:prstGeom>
          <a:solidFill>
            <a:srgbClr val="D6900E"/>
          </a:solidFill>
          <a:ln/>
        </p:spPr>
      </p:sp>
      <p:sp>
        <p:nvSpPr>
          <p:cNvPr id="52" name="Shape 50"/>
          <p:cNvSpPr/>
          <p:nvPr/>
        </p:nvSpPr>
        <p:spPr>
          <a:xfrm>
            <a:off x="6254496" y="2011680"/>
            <a:ext cx="5522976" cy="91440"/>
          </a:xfrm>
          <a:prstGeom prst="rect">
            <a:avLst/>
          </a:prstGeom>
          <a:solidFill>
            <a:srgbClr val="D6900E"/>
          </a:solidFill>
          <a:ln/>
        </p:spPr>
      </p:sp>
      <p:sp>
        <p:nvSpPr>
          <p:cNvPr id="53" name="Shape 51"/>
          <p:cNvSpPr/>
          <p:nvPr/>
        </p:nvSpPr>
        <p:spPr>
          <a:xfrm>
            <a:off x="6419088" y="17145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419088" y="1714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9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784848" y="160020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Database &amp; Data Management</a:t>
            </a:r>
            <a:endParaRPr lang="en-US" sz="1550" dirty="0"/>
          </a:p>
        </p:txBody>
      </p:sp>
      <p:sp>
        <p:nvSpPr>
          <p:cNvPr id="56" name="Shape 54"/>
          <p:cNvSpPr/>
          <p:nvPr/>
        </p:nvSpPr>
        <p:spPr>
          <a:xfrm>
            <a:off x="10332720" y="17145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0332720" y="17145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D69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19088" y="2258568"/>
            <a:ext cx="2574036" cy="1536192"/>
          </a:xfrm>
          <a:prstGeom prst="roundRect">
            <a:avLst>
              <a:gd name="adj" fmla="val 3571"/>
            </a:avLst>
          </a:prstGeom>
          <a:solidFill>
            <a:srgbClr val="E7F4EC"/>
          </a:solidFill>
          <a:ln/>
        </p:spPr>
      </p:sp>
      <p:sp>
        <p:nvSpPr>
          <p:cNvPr id="59" name="Shape 57"/>
          <p:cNvSpPr/>
          <p:nvPr/>
        </p:nvSpPr>
        <p:spPr>
          <a:xfrm>
            <a:off x="6537960" y="2386584"/>
            <a:ext cx="384048" cy="384048"/>
          </a:xfrm>
          <a:prstGeom prst="ellipse">
            <a:avLst/>
          </a:prstGeom>
          <a:solidFill>
            <a:srgbClr val="CFE9D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3796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6821424" y="2395728"/>
            <a:ext cx="1888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350" dirty="0"/>
          </a:p>
        </p:txBody>
      </p:sp>
      <p:sp>
        <p:nvSpPr>
          <p:cNvPr id="62" name="Text 60"/>
          <p:cNvSpPr txBox="1"/>
          <p:nvPr/>
        </p:nvSpPr>
        <p:spPr>
          <a:xfrm>
            <a:off x="6821424" y="2624328"/>
            <a:ext cx="1888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528816" y="2916936"/>
            <a:ext cx="21168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Donations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Information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Prediction Data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038844" y="2258568"/>
            <a:ext cx="2574036" cy="1536192"/>
          </a:xfrm>
          <a:prstGeom prst="roundRect">
            <a:avLst>
              <a:gd name="adj" fmla="val 3571"/>
            </a:avLst>
          </a:prstGeom>
          <a:solidFill>
            <a:srgbClr val="FDF3DE"/>
          </a:solidFill>
          <a:ln/>
        </p:spPr>
      </p:sp>
      <p:sp>
        <p:nvSpPr>
          <p:cNvPr id="65" name="Shape 63"/>
          <p:cNvSpPr/>
          <p:nvPr/>
        </p:nvSpPr>
        <p:spPr>
          <a:xfrm>
            <a:off x="9157716" y="2386584"/>
            <a:ext cx="384048" cy="384048"/>
          </a:xfrm>
          <a:prstGeom prst="ellipse">
            <a:avLst/>
          </a:prstGeom>
          <a:solidFill>
            <a:srgbClr val="F7E0AE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157716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9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9605772" y="2395728"/>
            <a:ext cx="1888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4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Storage</a:t>
            </a:r>
            <a:endParaRPr lang="en-US" sz="1350" dirty="0"/>
          </a:p>
        </p:txBody>
      </p:sp>
      <p:sp>
        <p:nvSpPr>
          <p:cNvPr id="68" name="Text 66"/>
          <p:cNvSpPr txBox="1"/>
          <p:nvPr/>
        </p:nvSpPr>
        <p:spPr>
          <a:xfrm>
            <a:off x="9605772" y="2624328"/>
            <a:ext cx="1888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Directories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9148572" y="2916936"/>
            <a:ext cx="22997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A4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Images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A4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Images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A4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Documents (In Progress)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11480" y="4114800"/>
            <a:ext cx="5522976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5875">
            <a:solidFill>
              <a:srgbClr val="1E7FAE"/>
            </a:solidFill>
            <a:prstDash val="solid"/>
          </a:ln>
          <a:effectLst>
            <a:outerShdw blurRad="63500" dist="25400" dir="5400000" algn="bl" rotWithShape="0">
              <a:srgbClr val="9CA8A2">
                <a:alpha val="2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11480" y="4114800"/>
            <a:ext cx="5522976" cy="502920"/>
          </a:xfrm>
          <a:prstGeom prst="roundRect">
            <a:avLst>
              <a:gd name="adj" fmla="val 12727"/>
            </a:avLst>
          </a:prstGeom>
          <a:solidFill>
            <a:srgbClr val="1E7FAE"/>
          </a:solidFill>
          <a:ln/>
        </p:spPr>
      </p:sp>
      <p:sp>
        <p:nvSpPr>
          <p:cNvPr id="72" name="Shape 70"/>
          <p:cNvSpPr/>
          <p:nvPr/>
        </p:nvSpPr>
        <p:spPr>
          <a:xfrm>
            <a:off x="411480" y="4526280"/>
            <a:ext cx="5522976" cy="91440"/>
          </a:xfrm>
          <a:prstGeom prst="rect">
            <a:avLst/>
          </a:prstGeom>
          <a:solidFill>
            <a:srgbClr val="1E7FAE"/>
          </a:solidFill>
          <a:ln/>
        </p:spPr>
      </p:sp>
      <p:sp>
        <p:nvSpPr>
          <p:cNvPr id="73" name="Shape 71"/>
          <p:cNvSpPr/>
          <p:nvPr/>
        </p:nvSpPr>
        <p:spPr>
          <a:xfrm>
            <a:off x="576072" y="42291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76072" y="4229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941832" y="411480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API &amp; Backend Integration</a:t>
            </a:r>
            <a:endParaRPr lang="en-US" sz="1550" dirty="0"/>
          </a:p>
        </p:txBody>
      </p:sp>
      <p:sp>
        <p:nvSpPr>
          <p:cNvPr id="76" name="Shape 74"/>
          <p:cNvSpPr/>
          <p:nvPr/>
        </p:nvSpPr>
        <p:spPr>
          <a:xfrm>
            <a:off x="4489704" y="42291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489704" y="42291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E7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61188" y="489204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E7F3FA"/>
          </a:solidFill>
          <a:ln w="9525">
            <a:solidFill>
              <a:srgbClr val="C3E0E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9536" y="4974336"/>
            <a:ext cx="420624" cy="420624"/>
          </a:xfrm>
          <a:prstGeom prst="ellipse">
            <a:avLst/>
          </a:prstGeom>
          <a:solidFill>
            <a:srgbClr val="D6EBF5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859536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</a:t>
            </a:r>
            <a:endParaRPr lang="en-US" sz="1600" dirty="0"/>
          </a:p>
        </p:txBody>
      </p:sp>
      <p:sp>
        <p:nvSpPr>
          <p:cNvPr id="81" name="Text 79"/>
          <p:cNvSpPr txBox="1"/>
          <p:nvPr/>
        </p:nvSpPr>
        <p:spPr>
          <a:xfrm>
            <a:off x="361188" y="54589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4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250" dirty="0"/>
          </a:p>
        </p:txBody>
      </p:sp>
      <p:sp>
        <p:nvSpPr>
          <p:cNvPr id="82" name="Text 80"/>
          <p:cNvSpPr txBox="1"/>
          <p:nvPr/>
        </p:nvSpPr>
        <p:spPr>
          <a:xfrm>
            <a:off x="361188" y="5669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(Frontend)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1805940" y="5184648"/>
            <a:ext cx="630936" cy="0"/>
          </a:xfrm>
          <a:prstGeom prst="line">
            <a:avLst/>
          </a:prstGeom>
          <a:noFill/>
          <a:ln w="19050">
            <a:solidFill>
              <a:srgbClr val="94A3A0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2464308" y="489204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E7F3FA"/>
          </a:solidFill>
          <a:ln w="9525">
            <a:solidFill>
              <a:srgbClr val="C3E0E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962656" y="4974336"/>
            <a:ext cx="420624" cy="420624"/>
          </a:xfrm>
          <a:prstGeom prst="ellipse">
            <a:avLst/>
          </a:prstGeom>
          <a:solidFill>
            <a:srgbClr val="D6EBF5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2962656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87" name="Text 85"/>
          <p:cNvSpPr txBox="1"/>
          <p:nvPr/>
        </p:nvSpPr>
        <p:spPr>
          <a:xfrm>
            <a:off x="2464308" y="54589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4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50" dirty="0"/>
          </a:p>
        </p:txBody>
      </p:sp>
      <p:sp>
        <p:nvSpPr>
          <p:cNvPr id="88" name="Text 86"/>
          <p:cNvSpPr txBox="1"/>
          <p:nvPr/>
        </p:nvSpPr>
        <p:spPr>
          <a:xfrm>
            <a:off x="2464308" y="5669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(Backend)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909060" y="5184648"/>
            <a:ext cx="630936" cy="0"/>
          </a:xfrm>
          <a:prstGeom prst="line">
            <a:avLst/>
          </a:prstGeom>
          <a:noFill/>
          <a:ln w="19050">
            <a:solidFill>
              <a:srgbClr val="94A3A0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4567428" y="489204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E7F3FA"/>
          </a:solidFill>
          <a:ln w="9525">
            <a:solidFill>
              <a:srgbClr val="C3E0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065776" y="4974336"/>
            <a:ext cx="420624" cy="420624"/>
          </a:xfrm>
          <a:prstGeom prst="ellipse">
            <a:avLst/>
          </a:prstGeom>
          <a:solidFill>
            <a:srgbClr val="D6EBF5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5065776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7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</a:t>
            </a:r>
            <a:endParaRPr lang="en-US" sz="1600" dirty="0"/>
          </a:p>
        </p:txBody>
      </p:sp>
      <p:sp>
        <p:nvSpPr>
          <p:cNvPr id="93" name="Text 91"/>
          <p:cNvSpPr txBox="1"/>
          <p:nvPr/>
        </p:nvSpPr>
        <p:spPr>
          <a:xfrm>
            <a:off x="4567428" y="54589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4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50" dirty="0"/>
          </a:p>
        </p:txBody>
      </p:sp>
      <p:sp>
        <p:nvSpPr>
          <p:cNvPr id="94" name="Text 92"/>
          <p:cNvSpPr txBox="1"/>
          <p:nvPr/>
        </p:nvSpPr>
        <p:spPr>
          <a:xfrm>
            <a:off x="4567428" y="5669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(Database)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76072" y="6062472"/>
            <a:ext cx="5193792" cy="301752"/>
          </a:xfrm>
          <a:prstGeom prst="roundRect">
            <a:avLst>
              <a:gd name="adj" fmla="val 15152"/>
            </a:avLst>
          </a:prstGeom>
          <a:solidFill>
            <a:srgbClr val="E7F3FA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731520" y="6062472"/>
            <a:ext cx="201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932688" y="606247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4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APIs</a:t>
            </a:r>
            <a:endParaRPr lang="en-US" sz="950" dirty="0"/>
          </a:p>
        </p:txBody>
      </p:sp>
      <p:sp>
        <p:nvSpPr>
          <p:cNvPr id="98" name="Text 96"/>
          <p:cNvSpPr txBox="1"/>
          <p:nvPr/>
        </p:nvSpPr>
        <p:spPr>
          <a:xfrm>
            <a:off x="2395728" y="6062472"/>
            <a:ext cx="201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2596896" y="606247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4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Data Format</a:t>
            </a:r>
            <a:endParaRPr lang="en-US" sz="950" dirty="0"/>
          </a:p>
        </p:txBody>
      </p:sp>
      <p:sp>
        <p:nvSpPr>
          <p:cNvPr id="100" name="Text 98"/>
          <p:cNvSpPr txBox="1"/>
          <p:nvPr/>
        </p:nvSpPr>
        <p:spPr>
          <a:xfrm>
            <a:off x="4059936" y="6062472"/>
            <a:ext cx="201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4261104" y="606247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4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Python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254496" y="4114800"/>
            <a:ext cx="5522976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5875">
            <a:solidFill>
              <a:srgbClr val="5B3FA6"/>
            </a:solidFill>
            <a:prstDash val="solid"/>
          </a:ln>
          <a:effectLst>
            <a:outerShdw blurRad="63500" dist="25400" dir="5400000" algn="bl" rotWithShape="0">
              <a:srgbClr val="9CA8A2">
                <a:alpha val="25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6254496" y="4114800"/>
            <a:ext cx="5522976" cy="502920"/>
          </a:xfrm>
          <a:prstGeom prst="roundRect">
            <a:avLst>
              <a:gd name="adj" fmla="val 12727"/>
            </a:avLst>
          </a:prstGeom>
          <a:solidFill>
            <a:srgbClr val="5B3FA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254496" y="4526280"/>
            <a:ext cx="5522976" cy="91440"/>
          </a:xfrm>
          <a:prstGeom prst="rect">
            <a:avLst/>
          </a:prstGeom>
          <a:solidFill>
            <a:srgbClr val="5B3FA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419088" y="42291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6419088" y="4229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784848" y="411480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Future Enhancements</a:t>
            </a:r>
            <a:endParaRPr lang="en-US" sz="1550" dirty="0"/>
          </a:p>
        </p:txBody>
      </p:sp>
      <p:sp>
        <p:nvSpPr>
          <p:cNvPr id="108" name="Shape 106"/>
          <p:cNvSpPr/>
          <p:nvPr/>
        </p:nvSpPr>
        <p:spPr>
          <a:xfrm>
            <a:off x="10332720" y="42291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10332720" y="42291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6419088" y="4773168"/>
            <a:ext cx="1207008" cy="1234440"/>
          </a:xfrm>
          <a:prstGeom prst="roundRect">
            <a:avLst>
              <a:gd name="adj" fmla="val 4545"/>
            </a:avLst>
          </a:prstGeom>
          <a:solidFill>
            <a:srgbClr val="EFEAFB"/>
          </a:solidFill>
          <a:ln w="9525">
            <a:solidFill>
              <a:srgbClr val="D6C9F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812280" y="4873752"/>
            <a:ext cx="420624" cy="420624"/>
          </a:xfrm>
          <a:prstGeom prst="ellipse">
            <a:avLst/>
          </a:prstGeom>
          <a:solidFill>
            <a:srgbClr val="E7E0F7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6812280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600" dirty="0"/>
          </a:p>
        </p:txBody>
      </p:sp>
      <p:sp>
        <p:nvSpPr>
          <p:cNvPr id="113" name="Text 111"/>
          <p:cNvSpPr txBox="1"/>
          <p:nvPr/>
        </p:nvSpPr>
        <p:spPr>
          <a:xfrm>
            <a:off x="6473952" y="5376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2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 Capture</a:t>
            </a:r>
            <a:endParaRPr lang="en-US" sz="950" dirty="0"/>
          </a:p>
        </p:txBody>
      </p:sp>
      <p:sp>
        <p:nvSpPr>
          <p:cNvPr id="114" name="Text 112"/>
          <p:cNvSpPr txBox="1"/>
          <p:nvPr/>
        </p:nvSpPr>
        <p:spPr>
          <a:xfrm>
            <a:off x="6473952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(Food Images)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735824" y="4773168"/>
            <a:ext cx="1207008" cy="1234440"/>
          </a:xfrm>
          <a:prstGeom prst="roundRect">
            <a:avLst>
              <a:gd name="adj" fmla="val 4545"/>
            </a:avLst>
          </a:prstGeom>
          <a:solidFill>
            <a:srgbClr val="EFEAFB"/>
          </a:solidFill>
          <a:ln w="9525">
            <a:solidFill>
              <a:srgbClr val="D6C9F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129016" y="4873752"/>
            <a:ext cx="420624" cy="420624"/>
          </a:xfrm>
          <a:prstGeom prst="ellipse">
            <a:avLst/>
          </a:prstGeom>
          <a:solidFill>
            <a:srgbClr val="E7E0F7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8129016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1600" dirty="0"/>
          </a:p>
        </p:txBody>
      </p:sp>
      <p:sp>
        <p:nvSpPr>
          <p:cNvPr id="118" name="Text 116"/>
          <p:cNvSpPr txBox="1"/>
          <p:nvPr/>
        </p:nvSpPr>
        <p:spPr>
          <a:xfrm>
            <a:off x="7790688" y="5376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2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Location-Based Matching</a:t>
            </a:r>
            <a:endParaRPr lang="en-US" sz="950" dirty="0"/>
          </a:p>
        </p:txBody>
      </p:sp>
      <p:sp>
        <p:nvSpPr>
          <p:cNvPr id="119" name="Text 117"/>
          <p:cNvSpPr txBox="1"/>
          <p:nvPr/>
        </p:nvSpPr>
        <p:spPr>
          <a:xfrm>
            <a:off x="7790688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(GPS / Maps)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9052560" y="4773168"/>
            <a:ext cx="1207008" cy="1234440"/>
          </a:xfrm>
          <a:prstGeom prst="roundRect">
            <a:avLst>
              <a:gd name="adj" fmla="val 4545"/>
            </a:avLst>
          </a:prstGeom>
          <a:solidFill>
            <a:srgbClr val="EFEAFB"/>
          </a:solidFill>
          <a:ln w="9525">
            <a:solidFill>
              <a:srgbClr val="D6C9F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445752" y="4873752"/>
            <a:ext cx="420624" cy="420624"/>
          </a:xfrm>
          <a:prstGeom prst="ellipse">
            <a:avLst/>
          </a:prstGeom>
          <a:solidFill>
            <a:srgbClr val="E7E0F7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9445752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600" dirty="0"/>
          </a:p>
        </p:txBody>
      </p:sp>
      <p:sp>
        <p:nvSpPr>
          <p:cNvPr id="123" name="Text 121"/>
          <p:cNvSpPr txBox="1"/>
          <p:nvPr/>
        </p:nvSpPr>
        <p:spPr>
          <a:xfrm>
            <a:off x="9107424" y="5376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2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Feedback System</a:t>
            </a:r>
            <a:endParaRPr lang="en-US" sz="950" dirty="0"/>
          </a:p>
        </p:txBody>
      </p:sp>
      <p:sp>
        <p:nvSpPr>
          <p:cNvPr id="124" name="Text 122"/>
          <p:cNvSpPr txBox="1"/>
          <p:nvPr/>
        </p:nvSpPr>
        <p:spPr>
          <a:xfrm>
            <a:off x="9107424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(After Collection)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0369296" y="4773168"/>
            <a:ext cx="1207008" cy="1234440"/>
          </a:xfrm>
          <a:prstGeom prst="roundRect">
            <a:avLst>
              <a:gd name="adj" fmla="val 4545"/>
            </a:avLst>
          </a:prstGeom>
          <a:solidFill>
            <a:srgbClr val="EFEAFB"/>
          </a:solidFill>
          <a:ln w="9525">
            <a:solidFill>
              <a:srgbClr val="D6C9F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762488" y="4873752"/>
            <a:ext cx="420624" cy="420624"/>
          </a:xfrm>
          <a:prstGeom prst="ellipse">
            <a:avLst/>
          </a:prstGeom>
          <a:solidFill>
            <a:srgbClr val="E7E0F7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10762488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600" dirty="0"/>
          </a:p>
        </p:txBody>
      </p:sp>
      <p:sp>
        <p:nvSpPr>
          <p:cNvPr id="128" name="Text 126"/>
          <p:cNvSpPr txBox="1"/>
          <p:nvPr/>
        </p:nvSpPr>
        <p:spPr>
          <a:xfrm>
            <a:off x="10424160" y="5376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2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Trust Score</a:t>
            </a:r>
            <a:endParaRPr lang="en-US" sz="950" dirty="0"/>
          </a:p>
        </p:txBody>
      </p:sp>
      <p:sp>
        <p:nvSpPr>
          <p:cNvPr id="129" name="Text 127"/>
          <p:cNvSpPr txBox="1"/>
          <p:nvPr/>
        </p:nvSpPr>
        <p:spPr>
          <a:xfrm>
            <a:off x="10424160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(Based on Feedback)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419088" y="6062472"/>
            <a:ext cx="5193792" cy="301752"/>
          </a:xfrm>
          <a:prstGeom prst="roundRect">
            <a:avLst>
              <a:gd name="adj" fmla="val 15152"/>
            </a:avLst>
          </a:prstGeom>
          <a:solidFill>
            <a:srgbClr val="EFEAFB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6547104" y="6062472"/>
            <a:ext cx="219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000" dirty="0"/>
          </a:p>
        </p:txBody>
      </p:sp>
      <p:sp>
        <p:nvSpPr>
          <p:cNvPr id="132" name="Text 130"/>
          <p:cNvSpPr txBox="1"/>
          <p:nvPr/>
        </p:nvSpPr>
        <p:spPr>
          <a:xfrm>
            <a:off x="6784848" y="6062472"/>
            <a:ext cx="4700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 future phases to enhance trust, safety and efficiency.</a:t>
            </a:r>
            <a:endParaRPr lang="en-US" sz="1050" dirty="0"/>
          </a:p>
        </p:txBody>
      </p:sp>
      <p:sp>
        <p:nvSpPr>
          <p:cNvPr id="133" name="Text 62">
            <a:extLst>
              <a:ext uri="{FF2B5EF4-FFF2-40B4-BE49-F238E27FC236}">
                <a16:creationId xmlns:a16="http://schemas.microsoft.com/office/drawing/2014/main" id="{6EBF1E93-742F-8CAD-F2C8-0DC81D15401D}"/>
              </a:ext>
            </a:extLst>
          </p:cNvPr>
          <p:cNvSpPr txBox="1"/>
          <p:nvPr/>
        </p:nvSpPr>
        <p:spPr>
          <a:xfrm>
            <a:off x="9171432" y="6547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FoodBridge AI  |  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57530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635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316736"/>
            <a:ext cx="3282696" cy="1005840"/>
          </a:xfrm>
          <a:prstGeom prst="roundRect">
            <a:avLst>
              <a:gd name="adj" fmla="val 5455"/>
            </a:avLst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3560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43560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43560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9" name="Image 0" descr="/home/claude/foodbridge_ppt/icons/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956" y="1764792"/>
            <a:ext cx="621792" cy="6217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21792" y="23865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/ Landing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64261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surplus food with people who need it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06824" y="1170432"/>
            <a:ext cx="357530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635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53128" y="1316736"/>
            <a:ext cx="3282696" cy="1005840"/>
          </a:xfrm>
          <a:prstGeom prst="roundRect">
            <a:avLst>
              <a:gd name="adj" fmla="val 5455"/>
            </a:avLst>
          </a:prstGeom>
          <a:solidFill>
            <a:srgbClr val="2A5240"/>
          </a:solidFill>
          <a:ln/>
        </p:spPr>
      </p:sp>
      <p:sp>
        <p:nvSpPr>
          <p:cNvPr id="14" name="Shape 11"/>
          <p:cNvSpPr/>
          <p:nvPr/>
        </p:nvSpPr>
        <p:spPr>
          <a:xfrm>
            <a:off x="4581144" y="143560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727448" y="143560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873752" y="143560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17" name="Image 1" descr="/home/claude/foodbridge_ppt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580" y="1764792"/>
            <a:ext cx="621792" cy="62179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471416" y="23865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&amp; Login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4471416" y="264261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role-based sign-up for donors and organizations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8156448" y="1170432"/>
            <a:ext cx="357530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635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02752" y="1316736"/>
            <a:ext cx="3282696" cy="1005840"/>
          </a:xfrm>
          <a:prstGeom prst="roundRect">
            <a:avLst>
              <a:gd name="adj" fmla="val 5455"/>
            </a:avLst>
          </a:prstGeom>
          <a:solidFill>
            <a:srgbClr val="40916C"/>
          </a:solidFill>
          <a:ln/>
        </p:spPr>
      </p:sp>
      <p:sp>
        <p:nvSpPr>
          <p:cNvPr id="22" name="Shape 18"/>
          <p:cNvSpPr/>
          <p:nvPr/>
        </p:nvSpPr>
        <p:spPr>
          <a:xfrm>
            <a:off x="8430768" y="143560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8577072" y="143560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8723376" y="143560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25" name="Image 2" descr="/home/claude/foodbridge_ppt/icons/utensil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3204" y="1764792"/>
            <a:ext cx="621792" cy="62179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21040" y="23865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Dashboard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8321040" y="264261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food donations and track impact</a:t>
            </a:r>
            <a:endParaRPr lang="en-US" sz="930" dirty="0"/>
          </a:p>
        </p:txBody>
      </p:sp>
      <p:sp>
        <p:nvSpPr>
          <p:cNvPr id="28" name="Shape 23"/>
          <p:cNvSpPr/>
          <p:nvPr/>
        </p:nvSpPr>
        <p:spPr>
          <a:xfrm>
            <a:off x="457200" y="3410712"/>
            <a:ext cx="357530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635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03504" y="3557016"/>
            <a:ext cx="3282696" cy="1005840"/>
          </a:xfrm>
          <a:prstGeom prst="roundRect">
            <a:avLst>
              <a:gd name="adj" fmla="val 5455"/>
            </a:avLst>
          </a:prstGeom>
          <a:solidFill>
            <a:srgbClr val="2A5240"/>
          </a:solidFill>
          <a:ln/>
        </p:spPr>
      </p:sp>
      <p:sp>
        <p:nvSpPr>
          <p:cNvPr id="30" name="Shape 25"/>
          <p:cNvSpPr/>
          <p:nvPr/>
        </p:nvSpPr>
        <p:spPr>
          <a:xfrm>
            <a:off x="731520" y="367588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877824" y="367588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1024128" y="367588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33" name="Image 3" descr="/home/claude/foodbridge_ppt/icons/uplo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3956" y="4005072"/>
            <a:ext cx="621792" cy="62179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21792" y="46268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Donation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621792" y="48828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food details, deadline, location and images</a:t>
            </a:r>
            <a:endParaRPr lang="en-US" sz="930" dirty="0"/>
          </a:p>
        </p:txBody>
      </p:sp>
      <p:sp>
        <p:nvSpPr>
          <p:cNvPr id="36" name="Shape 30"/>
          <p:cNvSpPr/>
          <p:nvPr/>
        </p:nvSpPr>
        <p:spPr>
          <a:xfrm>
            <a:off x="4306824" y="3410712"/>
            <a:ext cx="357530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635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453128" y="3557016"/>
            <a:ext cx="3282696" cy="1005840"/>
          </a:xfrm>
          <a:prstGeom prst="roundRect">
            <a:avLst>
              <a:gd name="adj" fmla="val 5455"/>
            </a:avLst>
          </a:prstGeom>
          <a:solidFill>
            <a:srgbClr val="1B4332"/>
          </a:solidFill>
          <a:ln/>
        </p:spPr>
      </p:sp>
      <p:sp>
        <p:nvSpPr>
          <p:cNvPr id="38" name="Shape 32"/>
          <p:cNvSpPr/>
          <p:nvPr/>
        </p:nvSpPr>
        <p:spPr>
          <a:xfrm>
            <a:off x="4581144" y="367588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9" name="Shape 33"/>
          <p:cNvSpPr/>
          <p:nvPr/>
        </p:nvSpPr>
        <p:spPr>
          <a:xfrm>
            <a:off x="4727448" y="367588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0" name="Shape 34"/>
          <p:cNvSpPr/>
          <p:nvPr/>
        </p:nvSpPr>
        <p:spPr>
          <a:xfrm>
            <a:off x="4873752" y="367588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41" name="Image 4" descr="/home/claude/foodbridge_ppt/icons/hand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3580" y="4005072"/>
            <a:ext cx="621792" cy="62179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4471416" y="46268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 Dashboard</a:t>
            </a:r>
            <a:endParaRPr lang="en-US" sz="1250" dirty="0"/>
          </a:p>
        </p:txBody>
      </p:sp>
      <p:sp>
        <p:nvSpPr>
          <p:cNvPr id="43" name="Text 36"/>
          <p:cNvSpPr txBox="1"/>
          <p:nvPr/>
        </p:nvSpPr>
        <p:spPr>
          <a:xfrm>
            <a:off x="4471416" y="48828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available donations</a:t>
            </a:r>
            <a:endParaRPr lang="en-US" sz="930" dirty="0"/>
          </a:p>
        </p:txBody>
      </p:sp>
      <p:sp>
        <p:nvSpPr>
          <p:cNvPr id="44" name="Shape 37"/>
          <p:cNvSpPr/>
          <p:nvPr/>
        </p:nvSpPr>
        <p:spPr>
          <a:xfrm>
            <a:off x="8156448" y="3410712"/>
            <a:ext cx="357530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  <a:effectLst>
            <a:outerShdw blurRad="635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302752" y="3557016"/>
            <a:ext cx="3282696" cy="1005840"/>
          </a:xfrm>
          <a:prstGeom prst="roundRect">
            <a:avLst>
              <a:gd name="adj" fmla="val 5455"/>
            </a:avLst>
          </a:prstGeom>
          <a:solidFill>
            <a:srgbClr val="2A5240"/>
          </a:solidFill>
          <a:ln/>
        </p:spPr>
      </p:sp>
      <p:sp>
        <p:nvSpPr>
          <p:cNvPr id="46" name="Shape 39"/>
          <p:cNvSpPr/>
          <p:nvPr/>
        </p:nvSpPr>
        <p:spPr>
          <a:xfrm>
            <a:off x="8430768" y="367588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7" name="Shape 40"/>
          <p:cNvSpPr/>
          <p:nvPr/>
        </p:nvSpPr>
        <p:spPr>
          <a:xfrm>
            <a:off x="8577072" y="367588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8" name="Shape 41"/>
          <p:cNvSpPr/>
          <p:nvPr/>
        </p:nvSpPr>
        <p:spPr>
          <a:xfrm>
            <a:off x="8723376" y="3675888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49" name="Image 5" descr="/home/claude/foodbridge_ppt/icons/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3204" y="4005072"/>
            <a:ext cx="621792" cy="621792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8321040" y="46268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51" name="Text 43"/>
          <p:cNvSpPr txBox="1"/>
          <p:nvPr/>
        </p:nvSpPr>
        <p:spPr>
          <a:xfrm>
            <a:off x="8321040" y="48828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users, donations and platform activity</a:t>
            </a:r>
            <a:endParaRPr lang="en-US" sz="930" dirty="0"/>
          </a:p>
        </p:txBody>
      </p:sp>
      <p:sp>
        <p:nvSpPr>
          <p:cNvPr id="52" name="Shape 44"/>
          <p:cNvSpPr/>
          <p:nvPr/>
        </p:nvSpPr>
        <p:spPr>
          <a:xfrm>
            <a:off x="457200" y="55778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BEFD9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53" name="Image 6" descr="/home/claude/foodbridge_ppt/icons/pend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5797296"/>
            <a:ext cx="420624" cy="420624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234440" y="5696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UI UNDER DEVELOPMENT — Receiver Organization Verification Portal</a:t>
            </a:r>
            <a:endParaRPr lang="en-US" sz="1150" dirty="0"/>
          </a:p>
        </p:txBody>
      </p:sp>
      <p:sp>
        <p:nvSpPr>
          <p:cNvPr id="55" name="Text 46"/>
          <p:cNvSpPr txBox="1"/>
          <p:nvPr/>
        </p:nvSpPr>
        <p:spPr>
          <a:xfrm>
            <a:off x="1234440" y="59984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document upload  ·  verification status  ·  admin approval workflow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10222992" y="5879592"/>
            <a:ext cx="1135685" cy="274320"/>
          </a:xfrm>
          <a:prstGeom prst="roundRect">
            <a:avLst>
              <a:gd name="adj" fmla="val 50000"/>
            </a:avLst>
          </a:prstGeom>
          <a:solidFill>
            <a:srgbClr val="FBEFD9"/>
          </a:solidFill>
          <a:ln/>
        </p:spPr>
      </p:sp>
      <p:sp>
        <p:nvSpPr>
          <p:cNvPr id="57" name="Shape 48"/>
          <p:cNvSpPr/>
          <p:nvPr/>
        </p:nvSpPr>
        <p:spPr>
          <a:xfrm>
            <a:off x="10351008" y="5980176"/>
            <a:ext cx="73152" cy="7315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10469880" y="5879592"/>
            <a:ext cx="82478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59" name="Text 50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shown as representative mockups of the current application</a:t>
            </a:r>
            <a:endParaRPr lang="en-US" sz="900" dirty="0"/>
          </a:p>
        </p:txBody>
      </p:sp>
      <p:sp>
        <p:nvSpPr>
          <p:cNvPr id="60" name="Text 51"/>
          <p:cNvSpPr txBox="1"/>
          <p:nvPr/>
        </p:nvSpPr>
        <p:spPr>
          <a:xfrm>
            <a:off x="9171432" y="6547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FoodBridge AI  |  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Implementation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709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3258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AF3EE"/>
          </a:solidFill>
          <a:ln/>
        </p:spPr>
      </p:sp>
      <p:pic>
        <p:nvPicPr>
          <p:cNvPr id="6" name="Image 0" descr="/home/claude/foodbridge_ppt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0817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243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14996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Tailwind CSS  ·  JavaScript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57200" y="1993392"/>
            <a:ext cx="4709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21488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AF3EE"/>
          </a:solidFill>
          <a:ln/>
        </p:spPr>
      </p:sp>
      <p:pic>
        <p:nvPicPr>
          <p:cNvPr id="11" name="Image 1" descr="/home/claude/foodbridge_ppt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311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15568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115568" y="232257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Python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57200" y="2816352"/>
            <a:ext cx="4709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" y="29718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AF3EE"/>
          </a:solidFill>
          <a:ln/>
        </p:spPr>
      </p:sp>
      <p:pic>
        <p:nvPicPr>
          <p:cNvPr id="16" name="Image 2" descr="/home/claude/foodbridge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540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15568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115568" y="314553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457200" y="3639312"/>
            <a:ext cx="4709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03504" y="37947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AF3EE"/>
          </a:solidFill>
          <a:ln/>
        </p:spPr>
      </p:sp>
      <p:pic>
        <p:nvPicPr>
          <p:cNvPr id="21" name="Image 3" descr="/home/claude/foodbridge_ppt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7705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15568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1115568" y="396849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·  Password Hashing  ·  RBAC</a:t>
            </a:r>
            <a:endParaRPr lang="en-US" sz="960" dirty="0"/>
          </a:p>
        </p:txBody>
      </p:sp>
      <p:sp>
        <p:nvSpPr>
          <p:cNvPr id="24" name="Shape 18"/>
          <p:cNvSpPr/>
          <p:nvPr/>
        </p:nvSpPr>
        <p:spPr>
          <a:xfrm>
            <a:off x="457200" y="4462272"/>
            <a:ext cx="4709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3504" y="461772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AF3EE"/>
          </a:solidFill>
          <a:ln/>
        </p:spPr>
      </p:sp>
      <p:pic>
        <p:nvPicPr>
          <p:cNvPr id="26" name="Image 4" descr="/home/claude/foodbridge_ppt/icons/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70001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15568" y="45354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115568" y="47914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ML Priority Prediction</a:t>
            </a:r>
            <a:endParaRPr lang="en-US" sz="960" dirty="0"/>
          </a:p>
        </p:txBody>
      </p:sp>
      <p:sp>
        <p:nvSpPr>
          <p:cNvPr id="29" name="Shape 22"/>
          <p:cNvSpPr/>
          <p:nvPr/>
        </p:nvSpPr>
        <p:spPr>
          <a:xfrm>
            <a:off x="457200" y="5285232"/>
            <a:ext cx="4709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6D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03504" y="54406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AF3EE"/>
          </a:solidFill>
          <a:ln/>
        </p:spPr>
      </p:sp>
      <p:pic>
        <p:nvPicPr>
          <p:cNvPr id="31" name="Image 5" descr="/home/claude/foodbridge_ppt/icons/settin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52297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15568" y="53583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1115568" y="56144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 · VS Code · Postman · Compass</a:t>
            </a:r>
            <a:endParaRPr lang="en-US" sz="960" dirty="0"/>
          </a:p>
        </p:txBody>
      </p:sp>
      <p:sp>
        <p:nvSpPr>
          <p:cNvPr id="34" name="Text 26"/>
          <p:cNvSpPr txBox="1"/>
          <p:nvPr/>
        </p:nvSpPr>
        <p:spPr>
          <a:xfrm>
            <a:off x="5577840" y="1152144"/>
            <a:ext cx="6153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050" dirty="0"/>
          </a:p>
        </p:txBody>
      </p:sp>
      <p:pic>
        <p:nvPicPr>
          <p:cNvPr id="35" name="Image 6" descr="/home/claude/foodbridge_ppt/icons/check_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1463040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852160" y="1444752"/>
            <a:ext cx="58795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 Management</a:t>
            </a:r>
            <a:endParaRPr lang="en-US" sz="1060" dirty="0"/>
          </a:p>
        </p:txBody>
      </p:sp>
      <p:pic>
        <p:nvPicPr>
          <p:cNvPr id="37" name="Image 7" descr="/home/claude/foodbridge_ppt/icons/check_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1723644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852160" y="1705356"/>
            <a:ext cx="58795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Receiver Registration</a:t>
            </a:r>
            <a:endParaRPr lang="en-US" sz="1060" dirty="0"/>
          </a:p>
        </p:txBody>
      </p:sp>
      <p:pic>
        <p:nvPicPr>
          <p:cNvPr id="39" name="Image 8" descr="/home/claude/foodbridge_ppt/icons/check_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1984248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852160" y="1965960"/>
            <a:ext cx="58795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060" dirty="0"/>
          </a:p>
        </p:txBody>
      </p:sp>
      <p:pic>
        <p:nvPicPr>
          <p:cNvPr id="41" name="Image 9" descr="/home/claude/foodbridge_ppt/icons/check_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2244852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852160" y="2226564"/>
            <a:ext cx="58795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Management</a:t>
            </a:r>
            <a:endParaRPr lang="en-US" sz="1060" dirty="0"/>
          </a:p>
        </p:txBody>
      </p:sp>
      <p:pic>
        <p:nvPicPr>
          <p:cNvPr id="43" name="Image 10" descr="/home/claude/foodbridge_ppt/icons/check_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2505456"/>
            <a:ext cx="182880" cy="18288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5852160" y="2487168"/>
            <a:ext cx="58795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System</a:t>
            </a:r>
            <a:endParaRPr lang="en-US" sz="1060" dirty="0"/>
          </a:p>
        </p:txBody>
      </p:sp>
      <p:pic>
        <p:nvPicPr>
          <p:cNvPr id="45" name="Image 11" descr="/home/claude/foodbridge_ppt/icons/check_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2766060"/>
            <a:ext cx="182880" cy="182880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5852160" y="2747772"/>
            <a:ext cx="58795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Workflow</a:t>
            </a:r>
            <a:endParaRPr lang="en-US" sz="1060" dirty="0"/>
          </a:p>
        </p:txBody>
      </p:sp>
      <p:pic>
        <p:nvPicPr>
          <p:cNvPr id="47" name="Image 12" descr="/home/claude/foodbridge_ppt/icons/check_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3026664"/>
            <a:ext cx="182880" cy="182880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5852160" y="3008376"/>
            <a:ext cx="58795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Priority Prediction</a:t>
            </a:r>
            <a:endParaRPr lang="en-US" sz="1060" dirty="0"/>
          </a:p>
        </p:txBody>
      </p:sp>
      <p:pic>
        <p:nvPicPr>
          <p:cNvPr id="49" name="Image 13" descr="/home/claude/foodbridge_ppt/icons/check_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3287268"/>
            <a:ext cx="182880" cy="182880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5852160" y="3268980"/>
            <a:ext cx="58795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60" dirty="0"/>
          </a:p>
        </p:txBody>
      </p:sp>
      <p:pic>
        <p:nvPicPr>
          <p:cNvPr id="51" name="Image 14" descr="/home/claude/foodbridge_ppt/icons/check_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3547872"/>
            <a:ext cx="182880" cy="182880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5852160" y="3529584"/>
            <a:ext cx="58795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Data Foundation</a:t>
            </a:r>
            <a:endParaRPr lang="en-US" sz="1060" dirty="0"/>
          </a:p>
        </p:txBody>
      </p:sp>
      <p:sp>
        <p:nvSpPr>
          <p:cNvPr id="53" name="Shape 36"/>
          <p:cNvSpPr/>
          <p:nvPr/>
        </p:nvSpPr>
        <p:spPr>
          <a:xfrm>
            <a:off x="5577840" y="4080510"/>
            <a:ext cx="6153912" cy="420624"/>
          </a:xfrm>
          <a:prstGeom prst="roundRect">
            <a:avLst>
              <a:gd name="adj" fmla="val 15217"/>
            </a:avLst>
          </a:prstGeom>
          <a:solidFill>
            <a:srgbClr val="FBEFD9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54" name="Image 15" descr="/home/claude/foodbridge_ppt/icons/pend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7568" y="4018788"/>
            <a:ext cx="256032" cy="256032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6016752" y="4110950"/>
            <a:ext cx="5605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PROGRESS:  Receiver Organization Document Verification</a:t>
            </a:r>
            <a:endParaRPr lang="en-US" sz="1030" dirty="0"/>
          </a:p>
        </p:txBody>
      </p:sp>
      <p:pic>
        <p:nvPicPr>
          <p:cNvPr id="57" name="Image 16" descr="/home/claude/foodbridge_ppt/icons/trend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5856" y="4622292"/>
            <a:ext cx="274320" cy="274320"/>
          </a:xfrm>
          <a:prstGeom prst="rect">
            <a:avLst/>
          </a:prstGeom>
        </p:spPr>
      </p:pic>
      <p:sp>
        <p:nvSpPr>
          <p:cNvPr id="59" name="Shape 40"/>
          <p:cNvSpPr/>
          <p:nvPr/>
        </p:nvSpPr>
        <p:spPr>
          <a:xfrm>
            <a:off x="5582653" y="5024628"/>
            <a:ext cx="6153912" cy="818388"/>
          </a:xfrm>
          <a:prstGeom prst="roundRect">
            <a:avLst>
              <a:gd name="adj" fmla="val 5411"/>
            </a:avLst>
          </a:prstGeom>
          <a:solidFill>
            <a:srgbClr val="EAF3EE"/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60" name="Image 17" descr="/home/claude/foodbridge_ppt/icons/aw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51697" y="5333238"/>
            <a:ext cx="365760" cy="365760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6286500" y="5113782"/>
            <a:ext cx="528523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10 planned modules are implemented and working end-to-end — the platform is ready to move into the verification &amp; trust phase.</a:t>
            </a:r>
            <a:endParaRPr lang="en-US" sz="1080" dirty="0"/>
          </a:p>
        </p:txBody>
      </p:sp>
      <p:sp>
        <p:nvSpPr>
          <p:cNvPr id="62" name="Text 42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Trust, Verification &amp; Security</a:t>
            </a:r>
            <a:endParaRPr lang="en-US" sz="900" dirty="0"/>
          </a:p>
        </p:txBody>
      </p:sp>
      <p:sp>
        <p:nvSpPr>
          <p:cNvPr id="63" name="Text 43"/>
          <p:cNvSpPr txBox="1"/>
          <p:nvPr/>
        </p:nvSpPr>
        <p:spPr>
          <a:xfrm>
            <a:off x="9171432" y="6547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FoodBridge AI  |  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942</Words>
  <Application>Microsoft Office PowerPoint</Application>
  <PresentationFormat>Widescreen</PresentationFormat>
  <Paragraphs>291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Charkupalli</cp:lastModifiedBy>
  <cp:revision>2</cp:revision>
  <dcterms:created xsi:type="dcterms:W3CDTF">2026-09-11T05:55:43Z</dcterms:created>
  <dcterms:modified xsi:type="dcterms:W3CDTF">2026-09-11T18:10:22Z</dcterms:modified>
</cp:coreProperties>
</file>